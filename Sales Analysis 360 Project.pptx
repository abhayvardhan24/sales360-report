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sldIdLst>
    <p:sldId id="256" r:id="rId2"/>
    <p:sldId id="257" r:id="rId3"/>
    <p:sldId id="266" r:id="rId4"/>
    <p:sldId id="267" r:id="rId5"/>
    <p:sldId id="268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39F6-5B39-4FB0-888F-20B90B03E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83425-C7BB-4270-ACB0-71009AAAD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00B52-3543-4677-8F78-D95577FD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812BF-E44B-4A83-967D-714C6519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16B4F-DFAB-4E64-9E2C-58385921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32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189E-A200-476B-9457-725D3D8F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3DF4-3DD1-4F36-A3B0-7D1C36052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916B4-44A5-46D2-9835-6F3A5B66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2BD0B-BAE7-48C9-9681-8BF693E3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C8EEB-9683-4F2B-99F9-E170D45D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04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8D5D-9967-4A15-8FBA-D0BBC5F4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3F6BC-A6A2-4E6E-80A0-82A3C39A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DE460-5593-4A1A-A638-3653F3B3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B570D-6971-47DC-945F-60A0ACE4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EE37-42D1-4A50-90CA-BCA604CD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50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E54E-0D2D-4740-B0A2-5EE554B8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2F428-C940-4735-AD35-1FD106380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721B1-FDAA-4F4D-9764-5F92BD8BC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89EF4-2534-44CD-85B8-A972CCD6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C09A3-D73B-4C1E-9C9C-3AA75669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3BCF8-E45E-430D-A82F-FAC66181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99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604A-144D-4C8F-A4F1-5F22556B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7DED3-43C1-4EEB-8A79-D69DF3179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92DCA-1CEB-492B-99EE-D0AF4E357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92ABA-961E-4CAB-BADB-48355812D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78620-1085-496F-ADFC-D85D7F788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570B58-CBFB-4A7D-B4E3-5985EF5D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EE058-0F9E-4EF6-B662-9ABF2888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C94B8-1C97-488E-8F4F-9DBF1348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95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1923-C430-4EF2-8E86-034B4122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CDDA2-C487-4E44-AA0F-5CAFC6D8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B2711-F3D4-4658-A75D-27BDE3F4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4D121-7FAE-44CB-9F21-3336C4DF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38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28390-ECE1-470D-B723-A156C89E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C435A-4136-4019-A171-11A2A696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816E6-2984-4037-A5FE-45BF2154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4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8805-C2A6-46D7-9982-A56ACC3B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FA218-AEAE-4D77-A50B-9D56CE4F4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1233F-0D63-4241-97E3-CB9C5F15B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B5AF1-C950-4493-8AEF-2EC1847B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A4A2C-4EFC-4453-8683-E5EDF092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7E4F1-05AA-405C-BC95-E2304E1F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69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23DE-792A-4206-B7DA-3CD81E51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3A1EE-47D0-4A5B-8CAC-C6D604693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02177-0781-40F8-819E-E36DAC43B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F745F-65F1-4866-A1D4-B0161AD1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7C3AD-3C19-41BA-B676-4490956D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8F37A-1BEC-4DA0-B16E-95F5897A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656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ECA9-7BBE-4C44-A7FF-18EDD495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4D590-7F41-480C-AA17-721B6DEF8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288E-1963-466F-A52D-5462390D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D8CF-318C-4428-9D7F-275C91B2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432A3-C7C1-4EF5-8885-F775B74E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0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F918-5B59-4D15-8499-E16C1E0B5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C12A9-3AAD-422E-8605-179B0D036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41B75-1A72-4C81-B909-F77B6B8E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3A4FE-71D7-4B29-B4E6-06041FF2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5C9C-573A-4852-A6B3-FF53F323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66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99B05-9B36-4ECA-826C-B26FBB98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8B81C-FDD9-4FA3-ABFA-0559AEFDE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BA533-0B24-47F4-ABFC-DD295C18F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8C8B9-745B-4632-9380-8D504A4AB06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EFCA0-2B88-4E52-94A6-578AB1E98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3B87C-38A6-4B3D-B976-D8A8D780E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D4BF-D48C-49CC-A47E-0CC5D8C860F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26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F814-B611-41BE-90AF-5B7E1EC60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1149"/>
            <a:ext cx="9144000" cy="3790122"/>
          </a:xfrm>
        </p:spPr>
        <p:txBody>
          <a:bodyPr>
            <a:normAutofit/>
          </a:bodyPr>
          <a:lstStyle/>
          <a:p>
            <a:r>
              <a:rPr lang="en-IN" dirty="0">
                <a:latin typeface="system-ui"/>
              </a:rPr>
              <a:t>Sales</a:t>
            </a:r>
            <a:r>
              <a:rPr lang="en-IN" b="0" i="0" dirty="0">
                <a:effectLst/>
                <a:latin typeface="system-ui"/>
              </a:rPr>
              <a:t> Analysis 360 Project</a:t>
            </a:r>
            <a:br>
              <a:rPr lang="en-IN" b="0" i="0" dirty="0">
                <a:effectLst/>
                <a:latin typeface="system-ui"/>
              </a:rPr>
            </a:br>
            <a:r>
              <a:rPr lang="en-IN" b="0" i="0" dirty="0">
                <a:effectLst/>
                <a:latin typeface="system-ui"/>
              </a:rPr>
              <a:t>                      </a:t>
            </a:r>
            <a:r>
              <a:rPr lang="en-IN" sz="3600" b="0" i="0" dirty="0">
                <a:effectLst/>
                <a:latin typeface="system-ui"/>
              </a:rPr>
              <a:t>By : Abhay Vardhan Pandey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5123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0517-4F45-4503-B842-862E778C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2">
                    <a:lumMod val="75000"/>
                  </a:schemeClr>
                </a:solidFill>
              </a:rPr>
              <a:t>1. Project Overview And 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5B53-8CC6-41E2-843D-160C3C659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723"/>
            <a:ext cx="10515600" cy="50358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Comprehensive sales analytics solution covering revenue, margin, customer behavior, store performance, and product trends. - Uses SQL for extraction, Python for cleaning and EDA.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2. Objective </a:t>
            </a:r>
            <a:r>
              <a:rPr lang="en-US" dirty="0"/>
              <a:t>Understand sales across products, categories, stores, regions. - Identify growth opportunities and inefficiencies. - Highlight customer purchase patterns.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3. Tools &amp; Technologies Used </a:t>
            </a:r>
            <a:r>
              <a:rPr lang="en-IN" dirty="0"/>
              <a:t>- SQL, Python, Pandas, NumPy, Matplotlib, Seaborn.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4. Data Sources </a:t>
            </a:r>
            <a:r>
              <a:rPr lang="en-IN" dirty="0"/>
              <a:t>- Orders, Product Master, Customer Master, Store Master, Returns. 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51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C00B-EB8F-4499-8849-692DF856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205948"/>
          </a:xfrm>
        </p:spPr>
        <p:txBody>
          <a:bodyPr>
            <a:normAutofit/>
          </a:bodyPr>
          <a:lstStyle/>
          <a:p>
            <a:r>
              <a:rPr lang="en-US" sz="3200" b="1" dirty="0"/>
              <a:t>2.KPIs: Sales, Margin%, GMV, AOV, Units Sold, Repeat Rate, Return Rate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B59D-A220-495F-996B-79F2F3CBF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Total Sales</a:t>
            </a:r>
            <a:r>
              <a:rPr lang="en-US" sz="2000" dirty="0"/>
              <a:t>: 108913849.91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Total GMV</a:t>
            </a:r>
            <a:r>
              <a:rPr lang="en-US" sz="2000" dirty="0"/>
              <a:t>: 128133941.22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Units Sold</a:t>
            </a:r>
            <a:r>
              <a:rPr lang="en-US" sz="2000" dirty="0"/>
              <a:t>: 50285 AOV: 5445.69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Margin %</a:t>
            </a:r>
            <a:r>
              <a:rPr lang="en-US" sz="2000" dirty="0"/>
              <a:t>: -15.47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Repeat Rate %: </a:t>
            </a:r>
            <a:r>
              <a:rPr lang="en-US" sz="2000" dirty="0"/>
              <a:t>92.60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Return Rate %: </a:t>
            </a:r>
            <a:r>
              <a:rPr lang="en-US" sz="2000" dirty="0"/>
              <a:t>7.47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851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9F8B-BBA8-4499-9DCD-4ABFC6BD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771466" cy="1696279"/>
          </a:xfrm>
        </p:spPr>
        <p:txBody>
          <a:bodyPr>
            <a:normAutofit/>
          </a:bodyPr>
          <a:lstStyle/>
          <a:p>
            <a:r>
              <a:rPr lang="en-US" sz="2000" b="1" dirty="0"/>
              <a:t>Seasonal Trend: Revenue by Month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1600" dirty="0"/>
              <a:t>January 9055508.48                         February 8298269.92                March 9471519.30 </a:t>
            </a:r>
            <a:br>
              <a:rPr lang="en-US" sz="1600" dirty="0"/>
            </a:br>
            <a:r>
              <a:rPr lang="en-US" sz="1600" dirty="0"/>
              <a:t>April 8804584.72                              May 9464628.24                       June 8931666.70</a:t>
            </a:r>
            <a:br>
              <a:rPr lang="en-US" sz="1600" dirty="0"/>
            </a:br>
            <a:r>
              <a:rPr lang="en-US" sz="1600" dirty="0"/>
              <a:t>July 9163736.81                               August 9229816.43                   September 9177392.63</a:t>
            </a:r>
            <a:br>
              <a:rPr lang="en-US" sz="1600" dirty="0"/>
            </a:br>
            <a:r>
              <a:rPr lang="en-US" sz="1600" dirty="0"/>
              <a:t>October 9322530.67                         November 8987982.99              December 9006213.03 </a:t>
            </a:r>
            <a:endParaRPr lang="en-IN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7044EC-60D6-4A17-BBCC-2B1C93809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2451651"/>
            <a:ext cx="10327377" cy="41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58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30D2-69CD-41A6-91D6-454BBF63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2852"/>
          </a:xfrm>
        </p:spPr>
        <p:txBody>
          <a:bodyPr>
            <a:normAutofit/>
          </a:bodyPr>
          <a:lstStyle/>
          <a:p>
            <a:r>
              <a:rPr lang="en-US" sz="3200" b="1" dirty="0"/>
              <a:t>Seasonal Trend: Revenue by Week Day :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775C1-14C1-466E-AB64-A848E2AE11F9}"/>
              </a:ext>
            </a:extLst>
          </p:cNvPr>
          <p:cNvSpPr txBox="1"/>
          <p:nvPr/>
        </p:nvSpPr>
        <p:spPr>
          <a:xfrm>
            <a:off x="677333" y="5528317"/>
            <a:ext cx="808235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In Weekends and mid-week like (Wednesday, Thursday) show higher revenue, Its indicates strong consumer activity during these period. </a:t>
            </a: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8920BB-B892-4188-A543-4D2A1883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1" y="1232451"/>
            <a:ext cx="9780104" cy="453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97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0D6F6-70B4-4F48-956E-D5EFF638A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185531"/>
            <a:ext cx="10638183" cy="5991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Business Requirement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Top and Bottom SKUs : It is Identify to top and bottom selling products is vital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for inventory management, marketing focus, and product development strategies.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72C396-C8A5-40A4-92A8-D4C84976B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" y="1457739"/>
            <a:ext cx="5844209" cy="44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B357A9-F7B4-4439-A292-EFB4039EC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22784"/>
            <a:ext cx="5257800" cy="422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6C929-B5A7-4146-9135-E3215D135AEE}"/>
              </a:ext>
            </a:extLst>
          </p:cNvPr>
          <p:cNvSpPr txBox="1"/>
          <p:nvPr/>
        </p:nvSpPr>
        <p:spPr>
          <a:xfrm>
            <a:off x="347870" y="5828666"/>
            <a:ext cx="5907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Product_191, Product_383, and Product_124 are top selling products, which indicates strong market demand and customer preference.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47477-1209-483A-9386-8FC9F1BFD962}"/>
              </a:ext>
            </a:extLst>
          </p:cNvPr>
          <p:cNvSpPr txBox="1"/>
          <p:nvPr/>
        </p:nvSpPr>
        <p:spPr>
          <a:xfrm>
            <a:off x="6414056" y="5857331"/>
            <a:ext cx="6102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Bottom performing product are require immediate attention for potential discontinuation, repricing, or marketing adjustments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92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6281-9AD5-422C-BAA4-15F1063F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02078" cy="801065"/>
          </a:xfrm>
        </p:spPr>
        <p:txBody>
          <a:bodyPr>
            <a:normAutofit fontScale="90000"/>
          </a:bodyPr>
          <a:lstStyle/>
          <a:p>
            <a:r>
              <a:rPr lang="en-IN" sz="2000" b="1" dirty="0"/>
              <a:t>Category-wise Revenue </a:t>
            </a:r>
            <a:r>
              <a:rPr lang="en-IN" sz="2000" dirty="0"/>
              <a:t>: In this Fashionable or fashion related category are doing</a:t>
            </a:r>
            <a:br>
              <a:rPr lang="en-IN" sz="2000" dirty="0"/>
            </a:br>
            <a:r>
              <a:rPr lang="en-IN" sz="2000" dirty="0"/>
              <a:t>very well and electronics item look to root cause analysis why there revenue is not good.</a:t>
            </a:r>
            <a:br>
              <a:rPr lang="en-IN" sz="2000" dirty="0"/>
            </a:br>
            <a:r>
              <a:rPr lang="en-IN" sz="20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EDAC0-951B-4809-9909-9D55C0FB0C37}"/>
              </a:ext>
            </a:extLst>
          </p:cNvPr>
          <p:cNvSpPr txBox="1"/>
          <p:nvPr/>
        </p:nvSpPr>
        <p:spPr>
          <a:xfrm>
            <a:off x="455056" y="3949148"/>
            <a:ext cx="2698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Brand – Wise Revenue 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>
                <a:solidFill>
                  <a:schemeClr val="accent1"/>
                </a:solidFill>
              </a:rPr>
              <a:t>Brand B is doing very well and brand D is as not good compare to A so brand D also doing some why why analysis 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584874-DC07-4550-A5C7-DABD6A1B8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32" y="1007164"/>
            <a:ext cx="7796568" cy="279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1C1BC-0C4E-4CE4-80B6-135813FEB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304" y="3949148"/>
            <a:ext cx="6679096" cy="279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39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4C56-89E2-450C-AF18-63FC7C17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872409" cy="3305724"/>
          </a:xfrm>
        </p:spPr>
        <p:txBody>
          <a:bodyPr>
            <a:normAutofit fontScale="90000"/>
          </a:bodyPr>
          <a:lstStyle/>
          <a:p>
            <a:r>
              <a:rPr lang="en-IN" sz="2700" b="1" i="0" dirty="0">
                <a:effectLst/>
                <a:cs typeface="Times New Roman" panose="02020603050405020304" pitchFamily="18" charset="0"/>
              </a:rPr>
              <a:t>Store &amp; Region Analysis :</a:t>
            </a:r>
            <a:br>
              <a:rPr lang="en-IN" sz="2700" b="1" i="0" dirty="0">
                <a:effectLst/>
                <a:cs typeface="Times New Roman" panose="02020603050405020304" pitchFamily="18" charset="0"/>
              </a:rPr>
            </a:br>
            <a:b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/>
              <a:t>Store_18, Store_145, and Store_3 are consistently among the top performers, contributing significantly to overall revenue.</a:t>
            </a:r>
            <a:br>
              <a:rPr lang="en-IN" sz="2200" b="1" i="0" dirty="0">
                <a:effectLst/>
                <a:cs typeface="Times New Roman" panose="02020603050405020304" pitchFamily="18" charset="0"/>
              </a:rPr>
            </a:b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1100" b="0" i="0" dirty="0">
                <a:effectLst/>
                <a:latin typeface="system-ui"/>
              </a:rPr>
            </a:b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1911-51AE-435B-9242-AC8D2D2E1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1912"/>
            <a:ext cx="2872409" cy="2690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City – Wise Revenue 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City like Mumbai and Pune are top performance in revenue and Delhi look what happened why customer not like or what are the region behind.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56D8397-45DD-42A7-8175-CED533A1B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903" y="4187687"/>
            <a:ext cx="7279170" cy="254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85B7FA5-4F7A-4438-B75C-8D6A094CA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903" y="190500"/>
            <a:ext cx="7279171" cy="385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40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EC56-CC41-4DFA-BD7C-3EBCDD02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42184" cy="2351570"/>
          </a:xfrm>
        </p:spPr>
        <p:txBody>
          <a:bodyPr>
            <a:normAutofit/>
          </a:bodyPr>
          <a:lstStyle/>
          <a:p>
            <a:r>
              <a:rPr lang="en-IN" sz="2000" b="1" dirty="0"/>
              <a:t>Customer Insights &amp; Return Analysis</a:t>
            </a:r>
            <a:r>
              <a:rPr lang="en-US" sz="2000" b="1" dirty="0"/>
              <a:t> :</a:t>
            </a:r>
            <a:br>
              <a:rPr lang="en-US" sz="2000" b="1" dirty="0"/>
            </a:br>
            <a:r>
              <a:rPr lang="en-US" sz="1800" dirty="0"/>
              <a:t>Returning customers typically generate more revenue because they </a:t>
            </a:r>
            <a:r>
              <a:rPr lang="en-US" sz="1800" b="1" dirty="0"/>
              <a:t>trust your brand, are familiar with the product, respond to marketing, and purchase more consistently</a:t>
            </a:r>
            <a:r>
              <a:rPr lang="en-US" sz="1800" dirty="0"/>
              <a:t>, whereas new customers are still exploring.</a:t>
            </a:r>
            <a:r>
              <a:rPr lang="en-US" sz="1800" dirty="0">
                <a:latin typeface="+mn-lt"/>
              </a:rPr>
              <a:t> </a:t>
            </a:r>
            <a:endParaRPr lang="en-IN" sz="1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ECFA-4215-462C-949B-B8895828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16696"/>
            <a:ext cx="2315817" cy="34602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Return Reason: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+mj-lt"/>
              </a:rPr>
              <a:t>Improve product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+mj-lt"/>
              </a:rPr>
              <a:t>Update descriptions and sizing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+mj-lt"/>
              </a:rPr>
              <a:t>Reduce shipping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+mj-lt"/>
              </a:rPr>
              <a:t>Target customer satisfaction initiatives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104755-6F61-49C0-9B27-55FF31040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384" y="106018"/>
            <a:ext cx="4094920" cy="290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0B8D7B8-34F1-4A3A-A5D4-BE1047FED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051" y="3140764"/>
            <a:ext cx="6771861" cy="335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80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78EE-F800-43A2-8591-28FBEFEFA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8418"/>
            <a:ext cx="11208027" cy="5918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Correlation Analysis :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EDA Analysis :</a:t>
            </a:r>
          </a:p>
          <a:p>
            <a:pPr marL="0" indent="0">
              <a:buNone/>
            </a:pPr>
            <a:r>
              <a:rPr lang="en-IN" sz="2000" b="1" dirty="0"/>
              <a:t>AOV Distribution :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C4084CD-13CC-4106-8DC4-B8D2907C5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373" y="106017"/>
            <a:ext cx="5393636" cy="332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E849047-B5FF-4B86-861B-A4A1331F9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748" y="3581401"/>
            <a:ext cx="7152240" cy="317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26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7A04-13EC-4FDF-8A0D-460A9116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017"/>
            <a:ext cx="8596668" cy="490331"/>
          </a:xfrm>
        </p:spPr>
        <p:txBody>
          <a:bodyPr>
            <a:normAutofit/>
          </a:bodyPr>
          <a:lstStyle/>
          <a:p>
            <a:r>
              <a:rPr lang="en-US" sz="2400" b="1" dirty="0"/>
              <a:t>Region Revenue Heatmap (Bar Chart) :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8FEA0-1937-4399-98F1-7617EB4EA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3429000"/>
            <a:ext cx="8492124" cy="2612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Visualize anomalies 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A684951-295E-497A-AED6-5FF27A0E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78" y="833439"/>
            <a:ext cx="8322365" cy="259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DAA942B-58CF-477D-B937-7678CAB92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4" y="3975652"/>
            <a:ext cx="9377776" cy="261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60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4108-1228-4760-8E3E-55ED63076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90" y="371061"/>
            <a:ext cx="9222040" cy="5710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Recommendations: 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Prioritize inventory and marketing for top products.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Target low-performing regions with campaigns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Retain high-value customer segments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Reduce returns through product quality checks / better descriptions / better offers.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Increase stock for top SKUs.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Target high-value customers.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Allocate budget to strong regions.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Reduce discounts on low-margin items to protect profitability.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Launch retention programs since returning customers drive more revenue. Improve product visibility for high-margin but low-sales items.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Prepare inventory and staff ahead of peak seasonal months.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B050"/>
                </a:solidFill>
              </a:rPr>
              <a:t>Enhance customer experience through faster delivery and better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673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D77965-C07E-4CBD-8F01-C940FE5C0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40" y="92765"/>
            <a:ext cx="11754678" cy="6652591"/>
          </a:xfrm>
        </p:spPr>
      </p:pic>
    </p:spTree>
    <p:extLst>
      <p:ext uri="{BB962C8B-B14F-4D97-AF65-F5344CB8AC3E}">
        <p14:creationId xmlns:p14="http://schemas.microsoft.com/office/powerpoint/2010/main" val="1426247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604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Times New Roman</vt:lpstr>
      <vt:lpstr>Wingdings</vt:lpstr>
      <vt:lpstr>Office Theme</vt:lpstr>
      <vt:lpstr>Sales Analysis 360 Project                       By : Abhay Vardhan Pandey</vt:lpstr>
      <vt:lpstr>1. Project Overview And Summary </vt:lpstr>
      <vt:lpstr>2.KPIs: Sales, Margin%, GMV, AOV, Units Sold, Repeat Rate, Return Rate</vt:lpstr>
      <vt:lpstr>Seasonal Trend: Revenue by Month:   January 9055508.48                         February 8298269.92                March 9471519.30  April 8804584.72                              May 9464628.24                       June 8931666.70 July 9163736.81                               August 9229816.43                   September 9177392.63 October 9322530.67                         November 8987982.99              December 9006213.03 </vt:lpstr>
      <vt:lpstr>Seasonal Trend: Revenue by Week Day :</vt:lpstr>
      <vt:lpstr>PowerPoint Presentation</vt:lpstr>
      <vt:lpstr>Category-wise Revenue : In this Fashionable or fashion related category are doing very well and electronics item look to root cause analysis why there revenue is not good.  </vt:lpstr>
      <vt:lpstr>Store &amp; Region Analysis :  Store_18, Store_145, and Store_3 are consistently among the top performers, contributing significantly to overall revenue.   </vt:lpstr>
      <vt:lpstr>Customer Insights &amp; Return Analysis : Returning customers typically generate more revenue because they trust your brand, are familiar with the product, respond to marketing, and purchase more consistently, whereas new customers are still exploring. </vt:lpstr>
      <vt:lpstr>PowerPoint Presentation</vt:lpstr>
      <vt:lpstr>Region Revenue Heatmap (Bar Chart)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Transaction Analysis Project                       By : Abhay Vardhan Pandey</dc:title>
  <dc:creator>DELL</dc:creator>
  <cp:lastModifiedBy>DELL</cp:lastModifiedBy>
  <cp:revision>25</cp:revision>
  <dcterms:created xsi:type="dcterms:W3CDTF">2025-11-10T12:00:40Z</dcterms:created>
  <dcterms:modified xsi:type="dcterms:W3CDTF">2025-12-02T11:37:30Z</dcterms:modified>
</cp:coreProperties>
</file>